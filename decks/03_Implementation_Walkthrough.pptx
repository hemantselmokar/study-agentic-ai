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SESSION 01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01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523961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2161C"/>
                </a:solidFill>
                <a:latin typeface="Consolas"/>
              </a:rPr>
              <a:t>Same repo, two different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B5563"/>
                </a:solidFill>
                <a:latin typeface="Segoe UI"/>
              </a:rPr>
              <a:t>A side-by-side of the actual code: a LangChain-style tool-calling agent (my_agent/) next to a LangGraph StateGraph (LangGraph_HR_Agent/).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Deck 3 of 3  ·  Code Walkthrough  ·  AI Agent Study  · 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A56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690F"/>
                </a:solidFill>
                <a:latin typeface="Consolas"/>
              </a:rPr>
              <a:t>LANGCHAIN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3047923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61C"/>
                </a:solidFill>
                <a:latin typeface="Consolas"/>
              </a:rPr>
              <a:t>Vector store → retriever →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37215" cy="4160520"/>
          </a:xfrm>
          <a:prstGeom prst="roundRect">
            <a:avLst>
              <a:gd name="adj" fmla="val 3000"/>
            </a:avLst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10637215" cy="38100"/>
          </a:xfrm>
          <a:prstGeom prst="rect">
            <a:avLst/>
          </a:prstGeom>
          <a:solidFill>
            <a:srgbClr val="A56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73736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" y="173736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9304" y="173736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700784"/>
            <a:ext cx="9814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Consolas"/>
              </a:rPr>
              <a:t>LangChain_AI_Agent/rag_agent_tool.py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084832"/>
            <a:ext cx="10180015" cy="3575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from </a:t>
            </a:r>
            <a:r>
              <a:rPr sz="1200" i="0">
                <a:solidFill>
                  <a:srgbClr val="E8EAED"/>
                </a:solidFill>
                <a:latin typeface="Consolas"/>
              </a:rPr>
              <a:t>langchain_community.vectorstores </a:t>
            </a:r>
            <a:r>
              <a:rPr sz="1200" i="0">
                <a:solidFill>
                  <a:srgbClr val="B9A6FF"/>
                </a:solidFill>
                <a:latin typeface="Consolas"/>
              </a:rPr>
              <a:t>import </a:t>
            </a:r>
            <a:r>
              <a:rPr sz="1200" i="0">
                <a:solidFill>
                  <a:srgbClr val="E8EAED"/>
                </a:solidFill>
                <a:latin typeface="Consolas"/>
              </a:rPr>
              <a:t>Chroma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from </a:t>
            </a:r>
            <a:r>
              <a:rPr sz="1200" i="0">
                <a:solidFill>
                  <a:srgbClr val="E8EAED"/>
                </a:solidFill>
                <a:latin typeface="Consolas"/>
              </a:rPr>
              <a:t>langchain_ollama </a:t>
            </a:r>
            <a:r>
              <a:rPr sz="1200" i="0">
                <a:solidFill>
                  <a:srgbClr val="B9A6FF"/>
                </a:solidFill>
                <a:latin typeface="Consolas"/>
              </a:rPr>
              <a:t>import </a:t>
            </a:r>
            <a:r>
              <a:rPr sz="1200" i="0">
                <a:solidFill>
                  <a:srgbClr val="E8EAED"/>
                </a:solidFill>
                <a:latin typeface="Consolas"/>
              </a:rPr>
              <a:t>OllamaEmbeddings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text_splitter</a:t>
            </a:r>
            <a:r>
              <a:rPr sz="1200" i="0">
                <a:solidFill>
                  <a:srgbClr val="E8EAED"/>
                </a:solidFill>
                <a:latin typeface="Consolas"/>
              </a:rPr>
              <a:t> = RecursiveCharacterTextSplitter(chunk_size=</a:t>
            </a:r>
            <a:r>
              <a:rPr sz="1200" i="0">
                <a:solidFill>
                  <a:srgbClr val="F0B074"/>
                </a:solidFill>
                <a:latin typeface="Consolas"/>
              </a:rPr>
              <a:t>300</a:t>
            </a:r>
            <a:r>
              <a:rPr sz="1200" i="0">
                <a:solidFill>
                  <a:srgbClr val="E8EAED"/>
                </a:solidFill>
                <a:latin typeface="Consolas"/>
              </a:rPr>
              <a:t>, chunk_overlap=</a:t>
            </a:r>
            <a:r>
              <a:rPr sz="1200" i="0">
                <a:solidFill>
                  <a:srgbClr val="F0B074"/>
                </a:solidFill>
                <a:latin typeface="Consolas"/>
              </a:rPr>
              <a:t>50</a:t>
            </a:r>
            <a:r>
              <a:rPr sz="1200" i="0">
                <a:solidFill>
                  <a:srgbClr val="E8EAED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chunks</a:t>
            </a:r>
            <a:r>
              <a:rPr sz="1200" i="0">
                <a:solidFill>
                  <a:srgbClr val="E8EAED"/>
                </a:solidFill>
                <a:latin typeface="Consolas"/>
              </a:rPr>
              <a:t> = text_splitter.split_documents(docs)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embeddings</a:t>
            </a:r>
            <a:r>
              <a:rPr sz="1200" i="0">
                <a:solidFill>
                  <a:srgbClr val="E8EAED"/>
                </a:solidFill>
                <a:latin typeface="Consolas"/>
              </a:rPr>
              <a:t> = OllamaEmbeddings(model=</a:t>
            </a:r>
            <a:r>
              <a:rPr sz="1200" i="0">
                <a:solidFill>
                  <a:srgbClr val="5FDDA3"/>
                </a:solidFill>
                <a:latin typeface="Consolas"/>
              </a:rPr>
              <a:t>"nomic-embed-text"</a:t>
            </a:r>
            <a:r>
              <a:rPr sz="1200" i="0">
                <a:solidFill>
                  <a:srgbClr val="E8EAED"/>
                </a:solidFill>
                <a:latin typeface="Consolas"/>
              </a:rPr>
              <a:t>, base_url=</a:t>
            </a:r>
            <a:r>
              <a:rPr sz="1200" i="0">
                <a:solidFill>
                  <a:srgbClr val="5FDDA3"/>
                </a:solidFill>
                <a:latin typeface="Consolas"/>
              </a:rPr>
              <a:t>"http://localhost:11434"</a:t>
            </a:r>
            <a:r>
              <a:rPr sz="1200" i="0">
                <a:solidFill>
                  <a:srgbClr val="E8EAED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vectorstore</a:t>
            </a:r>
            <a:r>
              <a:rPr sz="1200" i="0">
                <a:solidFill>
                  <a:srgbClr val="E8EAED"/>
                </a:solidFill>
                <a:latin typeface="Consolas"/>
              </a:rPr>
              <a:t> = Chroma.from_documents(chunks, embeddings)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retriever</a:t>
            </a:r>
            <a:r>
              <a:rPr sz="1200" i="0">
                <a:solidFill>
                  <a:srgbClr val="E8EAED"/>
                </a:solidFill>
                <a:latin typeface="Consolas"/>
              </a:rPr>
              <a:t> = vectorstore.as_retriever(search_kwargs={"k": </a:t>
            </a:r>
            <a:r>
              <a:rPr sz="1200" i="0">
                <a:solidFill>
                  <a:srgbClr val="F0B074"/>
                </a:solidFill>
                <a:latin typeface="Consolas"/>
              </a:rPr>
              <a:t>2</a:t>
            </a:r>
            <a:r>
              <a:rPr sz="1200" i="0">
                <a:solidFill>
                  <a:srgbClr val="E8EAED"/>
                </a:solidFill>
                <a:latin typeface="Consolas"/>
              </a:rPr>
              <a:t>})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1">
                <a:solidFill>
                  <a:srgbClr val="8B93A1"/>
                </a:solidFill>
                <a:latin typeface="Consolas"/>
              </a:rPr>
              <a:t># the retriever becomes a plain function tool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@tool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def </a:t>
            </a:r>
            <a:r>
              <a:rPr sz="1200" i="0">
                <a:solidFill>
                  <a:srgbClr val="7FC0FF"/>
                </a:solidFill>
                <a:latin typeface="Consolas"/>
              </a:rPr>
              <a:t>search_campus_policy</a:t>
            </a:r>
            <a:r>
              <a:rPr sz="1200" i="0">
                <a:solidFill>
                  <a:srgbClr val="E8EAED"/>
                </a:solidFill>
                <a:latin typeface="Consolas"/>
              </a:rPr>
              <a:t>(query: str) -&gt; str: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    docs</a:t>
            </a:r>
            <a:r>
              <a:rPr sz="1200" i="0">
                <a:solidFill>
                  <a:srgbClr val="E8EAED"/>
                </a:solidFill>
                <a:latin typeface="Consolas"/>
              </a:rPr>
              <a:t> = retriever.invoke(query)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    return </a:t>
            </a:r>
            <a:r>
              <a:rPr sz="1200" i="0">
                <a:solidFill>
                  <a:srgbClr val="5FDDA3"/>
                </a:solidFill>
                <a:latin typeface="Consolas"/>
              </a:rPr>
              <a:t>"\n\n"</a:t>
            </a:r>
            <a:r>
              <a:rPr sz="1200" i="0">
                <a:solidFill>
                  <a:srgbClr val="E8EAED"/>
                </a:solidFill>
                <a:latin typeface="Consolas"/>
              </a:rPr>
              <a:t>.join(f</a:t>
            </a:r>
            <a:r>
              <a:rPr sz="1200" i="0">
                <a:solidFill>
                  <a:srgbClr val="5FDDA3"/>
                </a:solidFill>
                <a:latin typeface="Consolas"/>
              </a:rPr>
              <a:t>"- {d.page_content}"</a:t>
            </a:r>
            <a:r>
              <a:rPr sz="1200" i="0">
                <a:solidFill>
                  <a:srgbClr val="E8EAED"/>
                </a:solidFill>
                <a:latin typeface="Consolas"/>
              </a:rPr>
              <a:t> for d in docs)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agent</a:t>
            </a:r>
            <a:r>
              <a:rPr sz="1200" i="0">
                <a:solidFill>
                  <a:srgbClr val="E8EAED"/>
                </a:solidFill>
                <a:latin typeface="Consolas"/>
              </a:rPr>
              <a:t> = Agent(model=ollama_model, tools=[search_campus_policy])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The agent decides via the LLM's reasoning over the tool's docstring whether to call it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4BC4"/>
                </a:solidFill>
                <a:latin typeface="Consolas"/>
              </a:rPr>
              <a:t>LANGGRAPH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4571885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61C"/>
                </a:solidFill>
                <a:latin typeface="Consolas"/>
              </a:rPr>
              <a:t>Typed state → nodes → conditional edges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37215" cy="4160520"/>
          </a:xfrm>
          <a:prstGeom prst="roundRect">
            <a:avLst>
              <a:gd name="adj" fmla="val 3000"/>
            </a:avLst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10637215" cy="381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73736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" y="173736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9304" y="173736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700784"/>
            <a:ext cx="9814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Consolas"/>
              </a:rPr>
              <a:t>LangGraph_HR_Agent/orchestrator.py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084832"/>
            <a:ext cx="10180015" cy="3575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class </a:t>
            </a:r>
            <a:r>
              <a:rPr sz="1200" i="0">
                <a:solidFill>
                  <a:srgbClr val="7FC0FF"/>
                </a:solidFill>
                <a:latin typeface="Consolas"/>
              </a:rPr>
              <a:t>HRAgentState</a:t>
            </a:r>
            <a:r>
              <a:rPr sz="1200" i="0">
                <a:solidFill>
                  <a:srgbClr val="E8EAED"/>
                </a:solidFill>
                <a:latin typeface="Consolas"/>
              </a:rPr>
              <a:t>(TypedDict):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    user_query: str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    employee_id: str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    active_agent: str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    agent_output: str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def </a:t>
            </a:r>
            <a:r>
              <a:rPr sz="1200" i="0">
                <a:solidFill>
                  <a:srgbClr val="7FC0FF"/>
                </a:solidFill>
                <a:latin typeface="Consolas"/>
              </a:rPr>
              <a:t>supervisor_node</a:t>
            </a:r>
            <a:r>
              <a:rPr sz="1200" i="0">
                <a:solidFill>
                  <a:srgbClr val="E8EAED"/>
                </a:solidFill>
                <a:latin typeface="Consolas"/>
              </a:rPr>
              <a:t>(state: HRAgentState) -&gt; HRAgentState: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    query</a:t>
            </a:r>
            <a:r>
              <a:rPr sz="1200" i="0">
                <a:solidFill>
                  <a:srgbClr val="E8EAED"/>
                </a:solidFill>
                <a:latin typeface="Consolas"/>
              </a:rPr>
              <a:t> = state["user_query"].lower()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    if </a:t>
            </a:r>
            <a:r>
              <a:rPr sz="1200" i="0">
                <a:solidFill>
                  <a:srgbClr val="E8EAED"/>
                </a:solidFill>
                <a:latin typeface="Consolas"/>
              </a:rPr>
              <a:t>any(k in query for k in ["leave", "vacation", "pto"]):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5FDDA3"/>
                </a:solidFill>
                <a:latin typeface="Consolas"/>
              </a:rPr>
              <a:t>        state["active_agent"] = "leave_agent"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    elif </a:t>
            </a:r>
            <a:r>
              <a:rPr sz="1200" i="0">
                <a:solidFill>
                  <a:srgbClr val="E8EAED"/>
                </a:solidFill>
                <a:latin typeface="Consolas"/>
              </a:rPr>
              <a:t>any(k in query for k in ["salary", "pay", "ctc"]):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5FDDA3"/>
                </a:solidFill>
                <a:latin typeface="Consolas"/>
              </a:rPr>
              <a:t>        state["active_agent"] = "salary_agent"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    else</a:t>
            </a:r>
            <a:r>
              <a:rPr sz="1200" i="0">
                <a:solidFill>
                  <a:srgbClr val="E8EAED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5FDDA3"/>
                </a:solidFill>
                <a:latin typeface="Consolas"/>
              </a:rPr>
              <a:t>        state["active_agent"] = "policy_agent"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B9A6FF"/>
                </a:solidFill>
                <a:latin typeface="Consolas"/>
              </a:rPr>
              <a:t>    return </a:t>
            </a:r>
            <a:r>
              <a:rPr sz="1200" i="0">
                <a:solidFill>
                  <a:srgbClr val="E8EAED"/>
                </a:solidFill>
                <a:latin typeface="Consolas"/>
              </a:rPr>
              <a:t>state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workflow</a:t>
            </a:r>
            <a:r>
              <a:rPr sz="1200" i="0">
                <a:solidFill>
                  <a:srgbClr val="E8EAED"/>
                </a:solidFill>
                <a:latin typeface="Consolas"/>
              </a:rPr>
              <a:t> = StateGraph(HRAgentState)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200" i="0">
                <a:solidFill>
                  <a:srgbClr val="E8EAED"/>
                </a:solidFill>
                <a:latin typeface="Consolas"/>
              </a:rPr>
              <a:t>workflow.add_conditional_edges(</a:t>
            </a:r>
            <a:r>
              <a:rPr sz="1200" i="0">
                <a:solidFill>
                  <a:srgbClr val="5FDDA3"/>
                </a:solidFill>
                <a:latin typeface="Consolas"/>
              </a:rPr>
              <a:t>"supervisor"</a:t>
            </a:r>
            <a:r>
              <a:rPr sz="1200" i="0">
                <a:solidFill>
                  <a:srgbClr val="E8EAED"/>
                </a:solidFill>
                <a:latin typeface="Consolas"/>
              </a:rPr>
              <a:t>, router_condition, {...})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Every possible next step is a named edge you can draw — nothing hidden in a model's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WHO DECIDES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6095847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2161C"/>
                </a:solidFill>
                <a:latin typeface="Consolas"/>
              </a:rPr>
              <a:t>Reasoning vs.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690F"/>
                </a:solidFill>
                <a:latin typeface="Consolas"/>
              </a:rPr>
              <a:t>LANGCHAIN / 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1357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Segoe UI"/>
              </a:rPr>
              <a:t>The model reads each tool's description and picks one every turn. Control flow lives inside the model's reasoning — invisible until you trace it in LangSmith or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28800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4BC4"/>
                </a:solidFill>
                <a:latin typeface="Consolas"/>
              </a:rPr>
              <a:t>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1357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Segoe UI"/>
              </a:rPr>
              <a:t>Control flow lives in the graph definition (add_conditional_edges). A model, if used at all, is just one node among others — equally inspectable.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60520"/>
            <a:ext cx="38100" cy="14630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B5563"/>
                </a:solidFill>
                <a:latin typeface="Segoe UI"/>
              </a:rPr>
              <a:t>LangGraph_HR_Agent actually has zero LLM calls in its decision path — routing is pure keyword matching (see its own DOCUMENTATION.md). That's not a limitation of LangGraph; you could swap supervisor_node's body for an LLM classifier call without touching the graph's shape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STATE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7619809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2161C"/>
                </a:solidFill>
                <a:latin typeface="Consolas"/>
              </a:rPr>
              <a:t>Where the data actually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690F"/>
                </a:solidFill>
                <a:latin typeface="Consolas"/>
              </a:rPr>
              <a:t>LANGCHAIN / 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1357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→  </a:t>
            </a:r>
            <a:r>
              <a:rPr sz="1250" b="0" i="0">
                <a:solidFill>
                  <a:srgbClr val="12161C"/>
                </a:solidFill>
                <a:latin typeface="Segoe UI"/>
              </a:rPr>
              <a:t>Conversation state = message history the agent library manages implicitly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→  </a:t>
            </a:r>
            <a:r>
              <a:rPr sz="1250" b="0" i="0">
                <a:solidFill>
                  <a:srgbClr val="12161C"/>
                </a:solidFill>
                <a:latin typeface="Segoe UI"/>
              </a:rPr>
              <a:t>Custom data between tool calls goes through globals or closures — e.g. this repo's own module-level retriever variable in rag_agent_tool.py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28800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4BC4"/>
                </a:solidFill>
                <a:latin typeface="Consolas"/>
              </a:rPr>
              <a:t>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240280"/>
            <a:ext cx="51357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→  </a:t>
            </a:r>
            <a:r>
              <a:rPr sz="1250" b="0" i="0">
                <a:solidFill>
                  <a:srgbClr val="12161C"/>
                </a:solidFill>
                <a:latin typeface="Segoe UI"/>
              </a:rPr>
              <a:t>State is an explicit typed schema (HRAgentState) threaded through every node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→  </a:t>
            </a:r>
            <a:r>
              <a:rPr sz="1250" b="0" i="0">
                <a:solidFill>
                  <a:srgbClr val="12161C"/>
                </a:solidFill>
                <a:latin typeface="Segoe UI"/>
              </a:rPr>
              <a:t>Every node reads and returns the same dict shape — no globals, and the schema documents exactly what flows through the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WIRING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9143771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2161C"/>
                </a:solidFill>
                <a:latin typeface="Consolas"/>
              </a:rPr>
              <a:t>Compile &amp;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5135727" cy="1737360"/>
          </a:xfrm>
          <a:prstGeom prst="roundRect">
            <a:avLst>
              <a:gd name="adj" fmla="val 3000"/>
            </a:avLst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5135727" cy="38100"/>
          </a:xfrm>
          <a:prstGeom prst="rect">
            <a:avLst/>
          </a:prstGeom>
          <a:solidFill>
            <a:srgbClr val="A56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82880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" y="182880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9304" y="182880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792224"/>
            <a:ext cx="43127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Consolas"/>
              </a:rPr>
              <a:t>my_agent — one call, one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176272"/>
            <a:ext cx="467852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E8EAED"/>
                </a:solidFill>
                <a:latin typeface="Consolas"/>
              </a:rPr>
              <a:t>agent</a:t>
            </a:r>
            <a:r>
              <a:rPr sz="1150" i="0">
                <a:solidFill>
                  <a:srgbClr val="E8EAED"/>
                </a:solidFill>
                <a:latin typeface="Consolas"/>
              </a:rPr>
              <a:t> = Agent(model=ollama_model, tools=[search_campus_policy])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E8EAED"/>
                </a:solidFill>
                <a:latin typeface="Consolas"/>
              </a:rPr>
              <a:t>agent(user_input)  </a:t>
            </a:r>
            <a:r>
              <a:rPr sz="1150" i="1">
                <a:solidFill>
                  <a:srgbClr val="8B93A1"/>
                </a:solidFill>
                <a:latin typeface="Consolas"/>
              </a:rPr>
              <a:t># one call = one reasoning 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737360"/>
            <a:ext cx="5135727" cy="1737360"/>
          </a:xfrm>
          <a:prstGeom prst="roundRect">
            <a:avLst>
              <a:gd name="adj" fmla="val 3000"/>
            </a:avLst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1737360"/>
            <a:ext cx="5135727" cy="381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5031" y="182880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07911" y="182880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90791" y="1828800"/>
            <a:ext cx="82296" cy="82296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4527" y="1792224"/>
            <a:ext cx="43127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Consolas"/>
              </a:rPr>
              <a:t>orchestrator.py — compile once, invoke per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759" y="2176272"/>
            <a:ext cx="467852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E8EAED"/>
                </a:solidFill>
                <a:latin typeface="Consolas"/>
              </a:rPr>
              <a:t>hr_graph_app</a:t>
            </a:r>
            <a:r>
              <a:rPr sz="1150" i="0">
                <a:solidFill>
                  <a:srgbClr val="E8EAED"/>
                </a:solidFill>
                <a:latin typeface="Consolas"/>
              </a:rPr>
              <a:t> = workflow.compile()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/>
              <a:t> 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E8EAED"/>
                </a:solidFill>
                <a:latin typeface="Consolas"/>
              </a:rPr>
              <a:t>final_state</a:t>
            </a:r>
            <a:r>
              <a:rPr sz="1150" i="0">
                <a:solidFill>
                  <a:srgbClr val="E8EAED"/>
                </a:solidFill>
                <a:latin typeface="Consolas"/>
              </a:rPr>
              <a:t> = hr_graph_app.invoke({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5FDDA3"/>
                </a:solidFill>
                <a:latin typeface="Consolas"/>
              </a:rPr>
              <a:t>    "user_query"</a:t>
            </a:r>
            <a:r>
              <a:rPr sz="1150" i="0">
                <a:solidFill>
                  <a:srgbClr val="E8EAED"/>
                </a:solidFill>
                <a:latin typeface="Consolas"/>
              </a:rPr>
              <a:t>: query,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5FDDA3"/>
                </a:solidFill>
                <a:latin typeface="Consolas"/>
              </a:rPr>
              <a:t>    "employee_id"</a:t>
            </a:r>
            <a:r>
              <a:rPr sz="1150" i="0">
                <a:solidFill>
                  <a:srgbClr val="5FDDA3"/>
                </a:solidFill>
                <a:latin typeface="Consolas"/>
              </a:rPr>
              <a:t>: "EMP001"</a:t>
            </a:r>
            <a:r>
              <a:rPr sz="1150" i="0">
                <a:solidFill>
                  <a:srgbClr val="E8EAED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  <a:spcAft>
                <a:spcPts val="200"/>
              </a:spcAft>
            </a:pPr>
            <a:r>
              <a:rPr sz="1150" i="0">
                <a:solidFill>
                  <a:srgbClr val="E8EAED"/>
                </a:solidFill>
                <a:latin typeface="Consolas"/>
              </a:rPr>
              <a:t>})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947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compile() is a one-time build step. invoke() then runs the whole graph to completion (or to an interrupt) in a single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THE NATURAL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0667733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61C"/>
                </a:solidFill>
                <a:latin typeface="Consolas"/>
              </a:rPr>
              <a:t>What would change if you merged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9418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B5563"/>
                </a:solidFill>
                <a:latin typeface="Segoe UI"/>
              </a:rPr>
              <a:t>The obvious extension to LangGraph_HR_Agent is making one node itself a tool-calling agent — e.g. replace policy_agent_node's fixed call to HRPolicyAgent.search_hr_policy(query) with an LLM that decides whether to search policy, check salary, or ask a follow-up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03320"/>
            <a:ext cx="38100" cy="11887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104543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Segoe UI"/>
              </a:rPr>
              <a:t>That's the actual pattern behind most production “agentic” LangGraph apps: chains and tool-calling agents live inside individual nodes. LangGraph only owns the routing between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372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400" b="1">
                <a:solidFill>
                  <a:srgbClr val="A5690F"/>
                </a:solidFill>
                <a:latin typeface="Consolas"/>
              </a:rPr>
              <a:t>LangChain</a:t>
            </a:r>
            <a:r>
              <a:rPr sz="2400" b="1">
                <a:solidFill>
                  <a:srgbClr val="12161C"/>
                </a:solidFill>
                <a:latin typeface="Consolas"/>
              </a:rPr>
              <a:t> answers “how do I call a
model, retriever, or tool consistently.”
</a:t>
            </a:r>
            <a:r>
              <a:rPr sz="2400" b="1">
                <a:solidFill>
                  <a:srgbClr val="5B4BC4"/>
                </a:solidFill>
                <a:latin typeface="Consolas"/>
              </a:rPr>
              <a:t>LangGraph</a:t>
            </a:r>
            <a:r>
              <a:rPr sz="2400" b="1">
                <a:solidFill>
                  <a:srgbClr val="12161C"/>
                </a:solidFill>
                <a:latin typeface="Consolas"/>
              </a:rPr>
              <a:t> answers “how do I control what
happens across many calls — with state,
branches, and loops.”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Your HR agent already has the graph shape; it's missing the LLM-driven node — the natural hands-on exercise for this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