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SESSION 01 · AGENT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01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523961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>
                <a:solidFill>
                  <a:srgbClr val="12161C"/>
                </a:solidFill>
                <a:latin typeface="Consolas"/>
              </a:rPr>
              <a:t>LangChain </a:t>
            </a:r>
            <a:r>
              <a:rPr sz="4600" b="0">
                <a:solidFill>
                  <a:srgbClr val="4B5563"/>
                </a:solidFill>
                <a:latin typeface="Consolas"/>
              </a:rPr>
              <a:t>vs</a:t>
            </a:r>
            <a:r>
              <a:rPr sz="4600" b="1">
                <a:solidFill>
                  <a:srgbClr val="12161C"/>
                </a:solidFill>
                <a:latin typeface="Consolas"/>
              </a:rPr>
              <a:t> 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B5563"/>
                </a:solidFill>
                <a:latin typeface="Segoe UI"/>
              </a:rPr>
              <a:t>Same ecosystem, two different jobs: composing calls to a model, versus orchestrating stateful, branching, multi-agent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Deck 1 of 3  ·  Concepts  ·  AI Agent Study  · 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A56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5690F"/>
                </a:solidFill>
                <a:latin typeface="Consolas"/>
              </a:rPr>
              <a:t>LANGCHAIN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3047923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161C"/>
                </a:solidFill>
                <a:latin typeface="Consolas"/>
              </a:rPr>
              <a:t>A toolkit for composing LLM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Segoe UI"/>
              </a:rPr>
              <a:t>LangChain standardizes the pieces around a model — prompts, chat models, embeddings, retrievers, vector stores, tools — and gives you a way to pipe them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6372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Chains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— prompt → model → parser, glued with LCEL's | operator or plain function composition.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Standard interfaces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— swap Ollama for OpenAI, or Chroma for FAISS, without rewriting surrounding code.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Agents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— a loop where the LLM reads tool descriptions and decides which to call, via AgentExecutor.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Strongest fit: RAG pipelines, tool-calling agents, prompt-engineering plumbing.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4BC4"/>
                </a:solidFill>
                <a:latin typeface="Consolas"/>
              </a:rPr>
              <a:t>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4571885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161C"/>
                </a:solidFill>
                <a:latin typeface="Consolas"/>
              </a:rPr>
              <a:t>A runtime for stateful, branching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Segoe UI"/>
              </a:rPr>
              <a:t>Built by the same team, on top of the same components — but it answers a different question: what happens across many calls, not within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6372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Graph, not pipe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— nodes are plain functions, edges are transitions, all sharing one typed State object.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Cycles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— a node can route back to an earlier node and loop until a condition is met. Chains can't.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1" i="0">
                <a:solidFill>
                  <a:srgbClr val="12161C"/>
                </a:solidFill>
                <a:latin typeface="Segoe UI"/>
              </a:rPr>
              <a:t>Checkpointing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 — persist state, pause mid-workflow, resume later, insert a human-approval step.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50">
                <a:solidFill>
                  <a:srgbClr val="4B5563"/>
                </a:solidFill>
                <a:latin typeface="Consolas"/>
              </a:rPr>
              <a:t>→  </a:t>
            </a:r>
            <a:r>
              <a:rPr sz="1450" b="0" i="0">
                <a:solidFill>
                  <a:srgbClr val="12161C"/>
                </a:solidFill>
                <a:latin typeface="Segoe UI"/>
              </a:rPr>
              <a:t>Strongest fit: multi-step workflows with branches, retries, multiple cooperating agents.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THE CORE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6095847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Pipe vs.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20"/>
            <a:ext cx="5135727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12161C"/>
                </a:solidFill>
                <a:latin typeface="Consolas"/>
              </a:rPr>
              <a:t>prompt</a:t>
            </a:r>
            <a:r>
              <a:rPr sz="1300">
                <a:solidFill>
                  <a:srgbClr val="4B5563"/>
                </a:solidFill>
                <a:latin typeface="Consolas"/>
              </a:rPr>
              <a:t> → </a:t>
            </a:r>
            <a:r>
              <a:rPr sz="1300">
                <a:solidFill>
                  <a:srgbClr val="12161C"/>
                </a:solidFill>
                <a:latin typeface="Consolas"/>
              </a:rPr>
              <a:t>model</a:t>
            </a:r>
            <a:r>
              <a:rPr sz="1300">
                <a:solidFill>
                  <a:srgbClr val="4B5563"/>
                </a:solidFill>
                <a:latin typeface="Consolas"/>
              </a:rPr>
              <a:t> → </a:t>
            </a:r>
            <a:r>
              <a:rPr sz="1300">
                <a:solidFill>
                  <a:srgbClr val="12161C"/>
                </a:solidFill>
                <a:latin typeface="Consolas"/>
              </a:rPr>
              <a:t>parser</a:t>
            </a:r>
            <a:r>
              <a:rPr sz="1300">
                <a:solidFill>
                  <a:srgbClr val="4B5563"/>
                </a:solidFill>
                <a:latin typeface="Consolas"/>
              </a:rPr>
              <a:t> → </a:t>
            </a:r>
            <a:r>
              <a:rPr sz="1300">
                <a:solidFill>
                  <a:srgbClr val="12161C"/>
                </a:solidFill>
                <a:latin typeface="Consola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B5563"/>
                </a:solidFill>
                <a:latin typeface="Segoe UI"/>
              </a:rPr>
              <a:t>LangChain: one direction, no revisits. Great when the shape of the work is fixed ahead of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74520"/>
            <a:ext cx="5135727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5B4BC4"/>
                </a:solidFill>
                <a:latin typeface="Consolas"/>
              </a:rPr>
              <a:t>supervisor</a:t>
            </a:r>
            <a:r>
              <a:rPr sz="1300">
                <a:solidFill>
                  <a:srgbClr val="4B5563"/>
                </a:solidFill>
                <a:latin typeface="Consolas"/>
              </a:rPr>
              <a:t> → </a:t>
            </a:r>
            <a:r>
              <a:rPr sz="1300">
                <a:solidFill>
                  <a:srgbClr val="5B4BC4"/>
                </a:solidFill>
                <a:latin typeface="Consolas"/>
              </a:rPr>
              <a:t>agent A</a:t>
            </a:r>
            <a:r>
              <a:rPr sz="1300">
                <a:solidFill>
                  <a:srgbClr val="4B5563"/>
                </a:solidFill>
                <a:latin typeface="Consolas"/>
              </a:rPr>
              <a:t> → </a:t>
            </a:r>
            <a:r>
              <a:rPr sz="1300">
                <a:solidFill>
                  <a:srgbClr val="5B4BC4"/>
                </a:solidFill>
                <a:latin typeface="Consolas"/>
              </a:rPr>
              <a:t>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56032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4BC4"/>
                </a:solidFill>
                <a:latin typeface="Consolas"/>
              </a:rPr>
              <a:t>↸ loop back to supervisor → agent A (conditional edge)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B5563"/>
                </a:solidFill>
                <a:latin typeface="Segoe UI"/>
              </a:rPr>
              <a:t>LangGraph: branches, loops, and a shared state object every node can read and write.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7619809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Where they actually differ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37360"/>
          <a:ext cx="10637214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449927"/>
                <a:gridCol w="444992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4B5563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T="45720" marB="45720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5690F"/>
                          </a:solidFill>
                          <a:latin typeface="Consolas"/>
                        </a:rPr>
                        <a:t>LangChain</a:t>
                      </a:r>
                    </a:p>
                  </a:txBody>
                  <a:tcPr marL="91440" marT="45720" marB="45720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5B4BC4"/>
                          </a:solidFill>
                          <a:latin typeface="Consolas"/>
                        </a:rPr>
                        <a:t>LangGraph</a:t>
                      </a:r>
                    </a:p>
                  </a:txBody>
                  <a:tcPr marL="91440" marT="45720" marB="45720">
                    <a:solidFill>
                      <a:srgbClr val="E7EB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B5563"/>
                          </a:solidFill>
                          <a:latin typeface="Consolas"/>
                        </a:rPr>
                        <a:t>Control flow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Linear / DAG chains, or LLM-driven tool selection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Explicit graph — you draw every possible next step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B5563"/>
                          </a:solidFill>
                          <a:latin typeface="Consolas"/>
                        </a:rPr>
                        <a:t>Cycles / loops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Not native — agent loop is the closest analogue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Native — a node can route back to itself or upstream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B5563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Implicit (message history) or manually threaded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Explicit typed State object shared by all nodes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B5563"/>
                          </a:solidFill>
                          <a:latin typeface="Consolas"/>
                        </a:rPr>
                        <a:t>Multi-agent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Possible, but hand-rolled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First-class — supervisor / hierarchical / swarm patterns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B5563"/>
                          </a:solidFill>
                          <a:latin typeface="Consolas"/>
                        </a:rPr>
                        <a:t>Persistence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Not built into the chain abstraction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Checkpointers — pause, resume, replay a run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B5563"/>
                          </a:solidFill>
                          <a:latin typeface="Consolas"/>
                        </a:rPr>
                        <a:t>Human-in-loop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Bolted on manually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Native interrupt() at any node</a:t>
                      </a:r>
                    </a:p>
                  </a:txBody>
                  <a:tcPr marL="91440" marT="54864" marB="54864">
                    <a:solidFill>
                      <a:srgbClr val="E7EB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B5563"/>
                          </a:solidFill>
                          <a:latin typeface="Consolas"/>
                        </a:rPr>
                        <a:t>Typical unit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A chain, a retriever, a tool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161C"/>
                          </a:solidFill>
                          <a:latin typeface="Segoe UI"/>
                        </a:rPr>
                        <a:t>A node (which often contains a chain or tool)</a:t>
                      </a:r>
                    </a:p>
                  </a:txBody>
                  <a:tcPr marL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9143771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When to reach for which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13572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135727" cy="40640"/>
          </a:xfrm>
          <a:prstGeom prst="rect">
            <a:avLst/>
          </a:prstGeom>
          <a:solidFill>
            <a:srgbClr val="A56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61C"/>
                </a:solidFill>
                <a:latin typeface="Consolas"/>
              </a:rPr>
              <a:t>Reach for LangChain when…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678527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The workflow is a fixed sequence, or a single agent with a flat toolset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 just need a retriever, a prompt template, or a model-agnostic interface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You're prototyping RAG and don't yet need branching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783080"/>
            <a:ext cx="513572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783080"/>
            <a:ext cx="5135727" cy="406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984248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61C"/>
                </a:solidFill>
                <a:latin typeface="Consolas"/>
              </a:rPr>
              <a:t>Reach for LangGraph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423160"/>
            <a:ext cx="4678527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Different queries must route to different specialists (a supervisor pattern)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 need retries, loops, or a step that waits for human approval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You need to persist and resume a long-running or multi-turn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FROM THIS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0667733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61C"/>
                </a:solidFill>
                <a:latin typeface="Consolas"/>
              </a:rPr>
              <a:t>You've already built both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135727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135727" cy="40640"/>
          </a:xfrm>
          <a:prstGeom prst="rect">
            <a:avLst/>
          </a:prstGeom>
          <a:solidFill>
            <a:srgbClr val="A56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61C"/>
                </a:solidFill>
                <a:latin typeface="Consolas"/>
              </a:rPr>
              <a:t>my_agent/  ·  LangChain-style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678527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rag_manager.py, rag_agent_tool.py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Chroma retriever wrapped as a single @tool, handed to one agent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No branching state machine — the model decides tool-or-not each 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783080"/>
            <a:ext cx="5135727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783080"/>
            <a:ext cx="5135727" cy="406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984248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61C"/>
                </a:solidFill>
                <a:latin typeface="Consolas"/>
              </a:rPr>
              <a:t>LangGraph_HR_Agent/  ·  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423160"/>
            <a:ext cx="4678527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orchestrator.py, agents.py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StateGraph with a supervisor node routing to 3 specialist nodes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4B5563"/>
                </a:solidFill>
                <a:latin typeface="Consolas"/>
              </a:rPr>
              <a:t>·  </a:t>
            </a:r>
            <a:r>
              <a:rPr sz="1250" b="0" i="0">
                <a:solidFill>
                  <a:srgbClr val="4B5563"/>
                </a:solidFill>
                <a:latin typeface="Segoe UI"/>
              </a:rPr>
              <a:t>Real branching workflow via add_conditional_edges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Implementation-level walkthrough of both in Deck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566928"/>
            <a:ext cx="82296" cy="8229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B5563"/>
                </a:solidFill>
                <a:latin typeface="Consolas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Consolas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060"/>
            <a:ext cx="12191695" cy="279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6372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2161C"/>
                </a:solidFill>
                <a:latin typeface="Consolas"/>
              </a:rPr>
              <a:t>LangChain gives you </a:t>
            </a:r>
            <a:r>
              <a:rPr sz="2800" b="1">
                <a:solidFill>
                  <a:srgbClr val="A5690F"/>
                </a:solidFill>
                <a:latin typeface="Consolas"/>
              </a:rPr>
              <a:t>the parts</a:t>
            </a:r>
            <a:r>
              <a:rPr sz="2800" b="1">
                <a:solidFill>
                  <a:srgbClr val="12161C"/>
                </a:solidFill>
                <a:latin typeface="Consolas"/>
              </a:rPr>
              <a:t>.
LangGraph gives you </a:t>
            </a:r>
            <a:r>
              <a:rPr sz="2800" b="1">
                <a:solidFill>
                  <a:srgbClr val="5B4BC4"/>
                </a:solidFill>
                <a:latin typeface="Consolas"/>
              </a:rPr>
              <a:t>the assembly line</a:t>
            </a:r>
            <a:r>
              <a:rPr sz="2800" b="1">
                <a:solidFill>
                  <a:srgbClr val="12161C"/>
                </a:solidFill>
                <a:latin typeface="Consolas"/>
              </a:rPr>
              <a:t> — for when the parts
need to talk to each other, loop, and remember.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Next → Deck 2: Chroma vs FAISS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