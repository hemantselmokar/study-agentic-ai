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SESSION 01 · VECTOR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01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1523961" cy="27940"/>
          </a:xfrm>
          <a:prstGeom prst="rect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372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>
                <a:solidFill>
                  <a:srgbClr val="12161C"/>
                </a:solidFill>
                <a:latin typeface="Consolas"/>
              </a:rPr>
              <a:t>Chroma </a:t>
            </a:r>
            <a:r>
              <a:rPr sz="4600" b="0">
                <a:solidFill>
                  <a:srgbClr val="4B5563"/>
                </a:solidFill>
                <a:latin typeface="Consolas"/>
              </a:rPr>
              <a:t>vs</a:t>
            </a:r>
            <a:r>
              <a:rPr sz="4600" b="1">
                <a:solidFill>
                  <a:srgbClr val="12161C"/>
                </a:solidFill>
                <a:latin typeface="Consolas"/>
              </a:rPr>
              <a:t> FAISS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8778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B5563"/>
                </a:solidFill>
                <a:latin typeface="Segoe UI"/>
              </a:rPr>
              <a:t>One is a raw nearest-neighbor index library. The other is a database built around one. Picking wrong quietly costs you metadata filtering, persistence, or raw speed.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Deck 2 of 3  ·  Vector Databases  ·  AI Agent Study  · 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1D6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D63C4"/>
                </a:solidFill>
                <a:latin typeface="Consolas"/>
              </a:rPr>
              <a:t>FAISS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02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3047923" cy="27940"/>
          </a:xfrm>
          <a:prstGeom prst="rect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61C"/>
                </a:solidFill>
                <a:latin typeface="Consolas"/>
              </a:rPr>
              <a:t>A similarity-search library, not a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B5563"/>
                </a:solidFill>
                <a:latin typeface="Segoe UI"/>
              </a:rPr>
              <a:t>FAISS (Facebook AI Similarity Search) is pure vector math — no schema, no metadata, no server. You hand it vectors; it hands you nearest neighbors.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1063721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Built by Meta AI Research (2017), open-sourced, CPU and GPU builds.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Index types trade recall for speed: </a:t>
            </a:r>
            <a:r>
              <a:rPr sz="1450" b="1" i="0">
                <a:solidFill>
                  <a:srgbClr val="12161C"/>
                </a:solidFill>
                <a:latin typeface="Segoe UI"/>
              </a:rPr>
              <a:t>Flat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 (exact), </a:t>
            </a:r>
            <a:r>
              <a:rPr sz="1450" b="1" i="0">
                <a:solidFill>
                  <a:srgbClr val="12161C"/>
                </a:solidFill>
                <a:latin typeface="Segoe UI"/>
              </a:rPr>
              <a:t>IVF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 (inverted file, approximate), </a:t>
            </a:r>
            <a:r>
              <a:rPr sz="1450" b="1" i="0">
                <a:solidFill>
                  <a:srgbClr val="12161C"/>
                </a:solidFill>
                <a:latin typeface="Segoe UI"/>
              </a:rPr>
              <a:t>HNSW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 (graph-based ANN).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Runs in-process, in-memory by default — persistence means you serialize the index file yourself.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No native metadata filtering — you filter before or after the search in your own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8F63"/>
                </a:solidFill>
                <a:latin typeface="Consolas"/>
              </a:rPr>
              <a:t>CHROMA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03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4571885" cy="27940"/>
          </a:xfrm>
          <a:prstGeom prst="rect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61C"/>
                </a:solidFill>
                <a:latin typeface="Consolas"/>
              </a:rPr>
              <a:t>An embedded vector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B5563"/>
                </a:solidFill>
                <a:latin typeface="Segoe UI"/>
              </a:rPr>
              <a:t>Chroma wraps an ANN index in an actual database: collections, metadata, and persistence, ready out of the box.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1063721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Ships with a SQLite-backed persistence layer — exactly what your chroma_hr_db/ and chroma_db/ directories are.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Collections plus metadata filtering (where={...}) alongside the similarity search itself.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Under the hood it uses </a:t>
            </a:r>
            <a:r>
              <a:rPr sz="1450" b="1" i="0">
                <a:solidFill>
                  <a:srgbClr val="12161C"/>
                </a:solidFill>
                <a:latin typeface="Segoe UI"/>
              </a:rPr>
              <a:t>HNSWlib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 for the ANN index — the same index family as FAISS's HNSW, plus a DB layer.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add_documents / as_retriever integrate directly with LangChain's Document objects.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04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6095847" cy="27940"/>
          </a:xfrm>
          <a:prstGeom prst="rect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61C"/>
                </a:solidFill>
                <a:latin typeface="Consolas"/>
              </a:rPr>
              <a:t>What sits around the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20"/>
            <a:ext cx="5135727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12161C"/>
                </a:solidFill>
                <a:latin typeface="Consolas"/>
              </a:rPr>
              <a:t>your app</a:t>
            </a:r>
            <a:r>
              <a:rPr sz="1300">
                <a:solidFill>
                  <a:srgbClr val="4B5563"/>
                </a:solidFill>
                <a:latin typeface="Consolas"/>
              </a:rPr>
              <a:t> → </a:t>
            </a:r>
            <a:r>
              <a:rPr sz="1300">
                <a:solidFill>
                  <a:srgbClr val="1D63C4"/>
                </a:solidFill>
                <a:latin typeface="Consolas"/>
              </a:rPr>
              <a:t>FAISS index (RAM)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B5563"/>
                </a:solidFill>
                <a:latin typeface="Segoe UI"/>
              </a:rPr>
              <a:t>You own the vector↔document mapping, the save/load calls, and any metadata filtering — FAISS only does the math.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74520"/>
            <a:ext cx="5135727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21488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12161C"/>
                </a:solidFill>
                <a:latin typeface="Consolas"/>
              </a:rPr>
              <a:t>your app</a:t>
            </a:r>
            <a:r>
              <a:rPr sz="1300">
                <a:solidFill>
                  <a:srgbClr val="4B5563"/>
                </a:solidFill>
                <a:latin typeface="Consolas"/>
              </a:rPr>
              <a:t> → </a:t>
            </a:r>
            <a:r>
              <a:rPr sz="1300">
                <a:solidFill>
                  <a:srgbClr val="0F8F63"/>
                </a:solidFill>
                <a:latin typeface="Consolas"/>
              </a:rPr>
              <a:t>Chroma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560320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8F63"/>
                </a:solidFill>
                <a:latin typeface="Consolas"/>
              </a:rPr>
              <a:t>HNSW index + SQLite metadata + 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B5563"/>
                </a:solidFill>
                <a:latin typeface="Segoe UI"/>
              </a:rPr>
              <a:t>One call handles embedding storage, metadata, and the on-disk index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05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7619809" cy="27940"/>
          </a:xfrm>
          <a:prstGeom prst="rect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61C"/>
                </a:solidFill>
                <a:latin typeface="Consolas"/>
              </a:rPr>
              <a:t>Where they actually differ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737360"/>
          <a:ext cx="10637214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449927"/>
                <a:gridCol w="4449927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4B5563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91440" marT="45720" marB="45720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D63C4"/>
                          </a:solidFill>
                          <a:latin typeface="Consolas"/>
                        </a:rPr>
                        <a:t>FAISS</a:t>
                      </a:r>
                    </a:p>
                  </a:txBody>
                  <a:tcPr marL="91440" marT="45720" marB="45720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8F63"/>
                          </a:solidFill>
                          <a:latin typeface="Consolas"/>
                        </a:rPr>
                        <a:t>Chroma</a:t>
                      </a:r>
                    </a:p>
                  </a:txBody>
                  <a:tcPr marL="91440" marT="45720" marB="45720">
                    <a:solidFill>
                      <a:srgbClr val="E7EB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B5563"/>
                          </a:solidFill>
                          <a:latin typeface="Consolas"/>
                        </a:rPr>
                        <a:t>What it is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2161C"/>
                          </a:solidFill>
                          <a:latin typeface="Segoe UI"/>
                        </a:rPr>
                        <a:t>ANN index library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2161C"/>
                          </a:solidFill>
                          <a:latin typeface="Segoe UI"/>
                        </a:rPr>
                        <a:t>Embedded vector database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B5563"/>
                          </a:solidFill>
                          <a:latin typeface="Consolas"/>
                        </a:rPr>
                        <a:t>Persistence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2161C"/>
                          </a:solidFill>
                          <a:latin typeface="Segoe UI"/>
                        </a:rPr>
                        <a:t>Manual — write_index / read_index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2161C"/>
                          </a:solidFill>
                          <a:latin typeface="Segoe UI"/>
                        </a:rPr>
                        <a:t>Built-in — persist_directory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B5563"/>
                          </a:solidFill>
                          <a:latin typeface="Consolas"/>
                        </a:rPr>
                        <a:t>Metadata filter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2161C"/>
                          </a:solidFill>
                          <a:latin typeface="Segoe UI"/>
                        </a:rPr>
                        <a:t>None — handled outside the index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2161C"/>
                          </a:solidFill>
                          <a:latin typeface="Segoe UI"/>
                        </a:rPr>
                        <a:t>Native where filters alongside similarity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B5563"/>
                          </a:solidFill>
                          <a:latin typeface="Consolas"/>
                        </a:rPr>
                        <a:t>Setup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2161C"/>
                          </a:solidFill>
                          <a:latin typeface="Segoe UI"/>
                        </a:rPr>
                        <a:t>pip install faiss-cpu, build the mapping yourself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2161C"/>
                          </a:solidFill>
                          <a:latin typeface="Segoe UI"/>
                        </a:rPr>
                        <a:t>pip install chromadb, works with Documents directly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B5563"/>
                          </a:solidFill>
                          <a:latin typeface="Consolas"/>
                        </a:rPr>
                        <a:t>Scale ceiling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2161C"/>
                          </a:solidFill>
                          <a:latin typeface="Segoe UI"/>
                        </a:rPr>
                        <a:t>Very high — tuned for billions of vectors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2161C"/>
                          </a:solidFill>
                          <a:latin typeface="Segoe UI"/>
                        </a:rPr>
                        <a:t>Strong for embedded / local-first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B5563"/>
                          </a:solidFill>
                          <a:latin typeface="Consolas"/>
                        </a:rPr>
                        <a:t>Hosting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2161C"/>
                          </a:solidFill>
                          <a:latin typeface="Segoe UI"/>
                        </a:rPr>
                        <a:t>Library only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2161C"/>
                          </a:solidFill>
                          <a:latin typeface="Segoe UI"/>
                        </a:rPr>
                        <a:t>Embedded mode, plus client–server mode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B5563"/>
                          </a:solidFill>
                          <a:latin typeface="Consolas"/>
                        </a:rPr>
                        <a:t>Typical use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2161C"/>
                          </a:solidFill>
                          <a:latin typeface="Segoe UI"/>
                        </a:rPr>
                        <a:t>Research, benchmarking, custom retrieval stacks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2161C"/>
                          </a:solidFill>
                          <a:latin typeface="Segoe UI"/>
                        </a:rPr>
                        <a:t>Fast RAG prototyping through small-mid production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06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9143771" cy="27940"/>
          </a:xfrm>
          <a:prstGeom prst="rect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61C"/>
                </a:solidFill>
                <a:latin typeface="Consolas"/>
              </a:rPr>
              <a:t>Where the speed actually comes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8686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B5563"/>
                </a:solidFill>
                <a:latin typeface="Segoe UI"/>
              </a:rPr>
              <a:t>FAISS's IVF and HNSW indexes are extremely fast on CPU, with a tunable recall/speed trade-off. Chroma's default index is also HNSW, via the same hnswlib library.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971800"/>
            <a:ext cx="38100" cy="1097280"/>
          </a:xfrm>
          <a:prstGeom prst="rect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9418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B5563"/>
                </a:solidFill>
                <a:latin typeface="Segoe UI"/>
              </a:rPr>
              <a:t>At matched index settings, raw nearest-neighbor search speed is comparable. The real difference isn't speed — it's everything Chroma wraps around the index: metadata, persistence, and a document-store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DECISION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07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10667733" cy="27940"/>
          </a:xfrm>
          <a:prstGeom prst="rect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61C"/>
                </a:solidFill>
                <a:latin typeface="Consolas"/>
              </a:rPr>
              <a:t>When to use which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135727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135727" cy="40640"/>
          </a:xfrm>
          <a:prstGeom prst="rect">
            <a:avLst/>
          </a:prstGeom>
          <a:solidFill>
            <a:srgbClr val="1D6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84248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61C"/>
                </a:solidFill>
                <a:latin typeface="Consolas"/>
              </a:rPr>
              <a:t>Reach for FAISS when…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4678527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You already have your own store for embeddings/metadata and only need the index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Scale is huge, or you need to squeeze out raw query latency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You're researching or benchmarking index types directly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783080"/>
            <a:ext cx="5135727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1783080"/>
            <a:ext cx="5135727" cy="40640"/>
          </a:xfrm>
          <a:prstGeom prst="rect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1984248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61C"/>
                </a:solidFill>
                <a:latin typeface="Consolas"/>
              </a:rPr>
              <a:t>Reach for Chroma when…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423160"/>
            <a:ext cx="4678527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You want RAG working fast, with persistence and filtering for free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You're building embedded / local-first apps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You're prototyping through to small-mid scale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08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3721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600" b="1">
                <a:solidFill>
                  <a:srgbClr val="12161C"/>
                </a:solidFill>
                <a:latin typeface="Consolas"/>
              </a:rPr>
              <a:t>FAISS is </a:t>
            </a:r>
            <a:r>
              <a:rPr sz="2600" b="1">
                <a:solidFill>
                  <a:srgbClr val="1D63C4"/>
                </a:solidFill>
                <a:latin typeface="Consolas"/>
              </a:rPr>
              <a:t>the engine</a:t>
            </a:r>
            <a:r>
              <a:rPr sz="2600" b="1">
                <a:solidFill>
                  <a:srgbClr val="12161C"/>
                </a:solidFill>
                <a:latin typeface="Consolas"/>
              </a:rPr>
              <a:t>.
Chroma is </a:t>
            </a:r>
            <a:r>
              <a:rPr sz="2600" b="1">
                <a:solidFill>
                  <a:srgbClr val="0F8F63"/>
                </a:solidFill>
                <a:latin typeface="Consolas"/>
              </a:rPr>
              <a:t>the car</a:t>
            </a:r>
            <a:r>
              <a:rPr sz="2600" b="1">
                <a:solidFill>
                  <a:srgbClr val="12161C"/>
                </a:solidFill>
                <a:latin typeface="Consolas"/>
              </a:rPr>
              <a:t> — same core idea, wrapped
with the persistence and metadata most RAG apps need on day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480560"/>
            <a:ext cx="38100" cy="1188720"/>
          </a:xfrm>
          <a:prstGeom prst="rect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480560"/>
            <a:ext cx="9692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Segoe UI"/>
              </a:rPr>
              <a:t>FAISS isn't in this codebase yet. Both agents already use Chroma (chroma_hr_db/, chroma_db/). The drop-in swap is langchain_community.vectorstores.FAISS.from_documents(chunks, embeddings) — but you'd lose the where metadata filter and on-disk persistence unless you call .save_local()/.load_local() yourself.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Next → Deck 3: Implementation walkthrough with code from this 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